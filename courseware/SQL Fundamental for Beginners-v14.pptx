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388" r:id="rId139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pic>
        <p:nvPicPr>
          <p:cNvPr id="6" name="Picture 5" descr="sql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548640"/>
            <a:ext cx="1920240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SQL Fundamental for Beginners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TGS-2020505790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Trainer: Dr. Alfred Ang  ·  www.tertiarycourses.com.sg  ·  enquiry@tertiaryinfotech.com  ·  +65 6100 0613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v14  ·  11 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Three times a day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Take the AM, PM and Assessment digital attendance — mandatory for WSQ-funded courses.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QR code from SSG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 or administrator displays the attendance QR code from the SSG portal.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and submit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minimum 75% attendance rate is required to be eligible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 &amp; Founder,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 — over 20 years of training and consulting experience in data, analytics and software engineering.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SQL, databases, data engineering, analytics and AI.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3337560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333756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711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711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3118104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Your name, organisation and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25696" y="2331720"/>
            <a:ext cx="3337560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25696" y="2331720"/>
            <a:ext cx="333756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19572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957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3703320"/>
            <a:ext cx="3118104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Your experience with spreadsheets, databases or programming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74152" y="2331720"/>
            <a:ext cx="3337560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2331720"/>
            <a:ext cx="333756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68028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6802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3703320"/>
            <a:ext cx="3118104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data you want to query and analyse after this course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LMS / TMS · lms-tms.tertiaryinfotech.com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20"/>
            <a:ext cx="4023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Log in to the LMS portal:  lms-tms.tertiaryinfotech.com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97180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926080"/>
            <a:ext cx="4023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My Courses and select SQL Fundamental for Beginners.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233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77640"/>
            <a:ext cx="4023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the Course Materials section of the course.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507492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0749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029200"/>
            <a:ext cx="4023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Download the slides, Learner Guide and the datasets folder (mock data).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42432" y="1828800"/>
            <a:ext cx="5779008" cy="42245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ms-t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2" y="1874519"/>
            <a:ext cx="5687568" cy="327509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ONE BUSINESS STORY, ELEVEN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Course Data — SG Mart Pte Ltd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8 Outlets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Orchard, Tampines, Jurong East, Woodlands, Bedok, Punggol, Clementi, Serangoon.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42 Staff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Managers, supervisors and cashiers — with roles, salaries and hire dates.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60 Members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Loyalty tiers from Basic to Platinum, with points balances.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25 Products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Fresh, chilled, bakery, beverages, snacks, household, personal care, frozen.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180 Orders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full year of 2025 trading across every outlet and channel.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685 Order Lines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fact table — quantity, price and discount on every item sold.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EVERY LAB HAS ITS OWN DATASET FOLDER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to Load the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230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307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90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Run the seed 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90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seed_sqlite.sql from the lab folder.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Execute the whole script (▶ / F9).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Creates and fills every table in one step.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Fastest way to start a lab.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706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7067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566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Import the CSV / 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566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Each lab folder holds its own CSVs + SQL.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SQLite Studio: Tools → Import.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Tick 'First line represents column names'.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The same files open directly in Excel.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182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1827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042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Use the prebuilt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042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labs/_all/sgmart.db — every table, ready.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Database → Add a database, then Connect.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No import step at all.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Also includes the Excel workbook.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1 Day, 8 Training Hours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Morning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Afternoon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Morning (9:30 am – 1:30 pm)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Welcome, introductions &amp; digital attendance (AM)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Data Modeling — Labs 1–3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Data Processing &amp; Analysis — Labs 4–6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Lunch break (1:30 – 2:30 pm)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Afternoon (2:30 pm – 6:30 pm)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Data Transformation — Labs 7–9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Introduction to Data Warehouse — Labs 10–11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Course feedback (TRAQOM) &amp; Assessment digital attendance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Briefing, then Final Assessment: PP (70 min) + OQ (20 min)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WSQ · SKILLS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TSC Title: Data Engineering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TSC Code: ICT-DIT-3005-1.1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Framework: ICT Skills Framework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This course develops the TSC abilities: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A1: Identify relevant data sources, processes and relationships in accordance to business requirements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A2: Propose methods and tools to gather and process data, and minimise confounding variables and data limitations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A3: Apply data analysis and data profiling to improve the clarity, quality and integrity of valid data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A4: Process multiple streams of data using data systems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A5: Utilise data systems and platform capabilities to solve new data problems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WSQ · SKILLS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— TSC Abilities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A6: Transform data to meet specified business requirements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A7: Operate data warehouse systems to balance optimisation of data access with batch loading and resource utilisation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A8: Perform data mapping from source to destination systems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A9: Resolve data issues arising from data processing activities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Knowledge items K1–K7 (data sources, modeling, warehousing, queries, transformation, mapping) are covered across Topics 1–4.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LO1 · Data Modeling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Apply data modeling for business processes.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LO2 · Data Processing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Apply data processing and analysis using SQL.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LO3 · Data Transformation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Apply data transformation from multiple data sources.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LO4 · Data Warehouse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Apply data mapping to data warehouse.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4 TOPICS · 11 HANDS-ON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1 · Data Modeling (A1, A2, K1, K2)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Data Sources · Data Modeling · SQL Data Types · Create &amp; Manage Databases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2 · Data Processing and Analysis (A3, A5, K4)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SQL Queries · SQL Operators · Insert, Update &amp; Delete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3 · Data Transformation (A4, A6, K5, K6)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Aggregate Data · Join Data · Group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4 · Introduction to Data Warehouse (A7, A8, A9, K3, K7)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Overview of Data Warehouse · Relational Databases · Stored Procedures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BEFORE YOU BEGIN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a black or blue pen for hard-copy assessments.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liquid paper or correction tape.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Assessment scripts are collected when the time is 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· 90 MINUTES TOTAL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Hands-on SQL tasks in SQLite Studio · 70 minutes · assessor-to-candidate ratio 1:10.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Oral Questioning (OQ)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Spoken knowledge questions · 20 minutes · one-to-one with the assessor.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Course slides, Learner Guide and approved materials only.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 be funded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75% minimum attendance and a result of 'Competent'. An appeal process is available.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1196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Practical Performance (PP) — 70 min,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9652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Oral Questioning (OQ) — 20 min, 1-to-1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Submit on the LMS — upload your answers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08108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SQL 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What is SQL?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SQL?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Structured Query Language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standard language for storing, manipulating and retrieving data in databases.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An open standard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ANSI standard since 1986, ISO standard since 1987.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Works everywhere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MySQL, SQL Server, Access, Oracle, Sybase, Informix, PostgreSQL and more.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Declarative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state WHAT data you want; the database engine works out how to get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Can SQL Do?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Execute queries and retrieve data from a database.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Change data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Insert, update and delete records.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Define structure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new databases, tables, views and indexes.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Automate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stored procedures for reusable server-side logic.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Secure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Set permissions on tables, procedures and views.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Analyse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Aggregate, join and group data for analysis.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Short History of 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1970 — E.F. Codd publishes the relational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6041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1975–77 — first SQL implementations &amp; IBM System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5114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1980s — commercial releases: Oracle, SQL/DS, DB2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4187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1986/87 — SQL becomes the ANSI &amp; ISO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3260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By 1992 — over 100 SQL products on the market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ANSI-COMPLIANT ENGINES · SELECT · UPDATE · DELETE · INSERT · 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Databases That Speak 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MySQL / MariaDB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web's workhorse open-source databases.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PostgreSQL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Advanced open-source object-relational database.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SQLite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Zero-config embedded database — our classroom engine.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Microsoft SQL Server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Enterprise database with T-SQL and stored procedures.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Oracle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Enterprise market leader since 1980.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DB2 · Sybase · Access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IBM's DB2, SAP's Sybase and desktop MS Access.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TABLES · ROWS · COLUMNS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Components of a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Rows (records)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Columns (fields)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database is one or more tables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Each table is a collection of rows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Every row of a table has the same row type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 row is the smallest unit inserted or deleted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Columns define the fields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The n-th field of every row is the n-th column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Each column has a name and a data type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Rows × columns = the relational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CLASSROOM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Your Workbench — SQLite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Desktop app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Browse and edit SQLite database files visually — created by Paweł Salawa.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 source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Free, GPLv3-licensed, cross-platform (C++/Qt) — download at sqlitestudio.pl.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SQL editor built 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Write and run every query in this course from Tools → Open SQL editor.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Cloud alternative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install? Use the free sqliteonline.com in your browser.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Data 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Data Sources · Data Modeling · SQL Data Types · Create &amp; Manage Databases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MAPPING · A1, A2, K1,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Data Modeling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Relational databases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database is one or more tables; each table is rows (records) and columns (fields) with a fixed row type.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DDL statements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 / ALTER / DROP define databases, tables, indexes and their columns and data types.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Constraints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NOT NULL, DEFAULT, UNIQUE, CHECK, PRIMARY KEY and FOREIGN KEY enforce rules on the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modeling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Primary and foreign keys link tables into entity relationships that mirror the business process.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DATABASE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CREATE DATABASE statement creates a new SQL database.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DROP DATABASE permanently deletes an existing database — use with care.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DATABASE databasename;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DROP DATABASE databasename;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DATABASE testDB;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DROP DATABASE testDB;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TABLE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CREATE TABLE creates a new table in a database.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Each column is declared with a name and a data type.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table_name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column1 datatype,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column2 datatype,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column3 datatype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Persons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PersonID int,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LastName varchar(255),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FirstName varchar(255),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City varchar(255)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String Data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CHAR(n)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Fixed-length string, padded to n characters (0–255).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VARCHAR(n)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Variable-length string up to n characters — the everyday text type.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TEXT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Long free text (articles, descriptions) up to 65,535 bytes.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BLOB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Binary large object — images, files and other raw bytes.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ENUM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value chosen from a fixed list you define.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Zero or more values chosen from a fixed list.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Numeric Data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 / INTEGER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Whole numbers — IDs, counts, populations.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SMALLINT / BIGINT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Smaller or larger integer ranges to fit the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DECIMAL(p,s)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Exact fixed-point numbers — money and precise quantities.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FLOAT / REAL / DOUBLE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Approximate floating-point numbers for scientific values.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BOOLEAN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True/false flags (stored as 0 / 1).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Individual bit values for compact flags.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Date and Time Data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Calendar date: YYYY-MM-DD.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Time of day: hh:mm:ss.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DATETIME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Date and time combined: YYYY-MM-DD hh:mm:ss.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TIMESTAMP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Date-time stored relative to epoch — auto-updates on change.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YEAR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Four-digit year.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SQLite stores dates as TEXT, REAL or INTEGER under the hood.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ALTER TABLE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ALTER TABLE adds, deletes or modifies columns in an existing table.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It is also used to add or drop constraints after creation.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ALTER TABLE table_name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ADD column_name datatype;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ALTER TABLE 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ADD Email varchar(255);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NOT NULL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Column must always contain a value.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UNIQUE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 values in the column must be different.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PRIMARY KEY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NOT NULL + UNIQUE — uniquely identifies each row; one per table.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FOREIGN KEY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Links a column to the primary key of another table.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CHECK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Limits the values allowed in a column by a condition.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DEFAULT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Supplies a value automatically when none is given.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NOT NULL &amp; DEFAULT 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NOT NULL forces a column to always hold a value.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DEFAULT fills in a value automatically when the INSERT omits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t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col datatype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col2 datatype DEFAULT 'value'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Persons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ID int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LastName varchar(255)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City varchar(255) DEFAULT 'Sandnes'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UNIQUE &amp; CHECK 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UNIQUE guarantees no duplicate values in a column — a table may have many UNIQUE constraints.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CHECK limits the range of values a column accepts.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t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col int NOT NULL UNIQUE,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age int CHECK (age &gt;= 18)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Persons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ID int NOT NULL UNIQUE,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Age int CHECK (Age &gt;= 18)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PRIMARY KEY Constraint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PRIMARY KEY uniquely identifies each record — UNIQUE and NOT NULL combined.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table has exactly ONE primary key; it may span one or several columns.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t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ID int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...,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PRIMARY KEY (ID)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Persons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ID int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LastName varchar(255)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PRIMARY KEY (ID)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FOREIGN KEY Constraint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FOREIGN KEY links two tables: a field in the child table refers to the PRIMARY KEY of the parent table.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This is the mechanism that turns separate tables into a data model.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child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...,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FOREIGN KEY (col)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REFERENCES parent(pk_col)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Orders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OrderID int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PersonID int,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PRIMARY KEY (OrderID),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FOREIGN KEY (PersonID)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REFERENCES Persons(PersonID)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 INCREMENT Field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Auto-increment generates a unique number automatically for each new record.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Usually applied to the primary key. In SQLite an INTEGER PRIMARY KEY auto-increments by default.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t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id int NOT NULL AUTO_INCREMENT,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...,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PRIMARY KEY (id)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Persons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Personid int NOT NULL AUTO_INCREMENT,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LastName varchar(255)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PRIMARY KEY (Personid)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INDEX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Indexes speed up searches and queries — the database finds rows without scanning the whole table.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Users never see the index; it works silently behind SELECT and WHERE.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INDEX index_name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ON table_name (column1, column2);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INDEX idx_lastname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ON Persons (LastName);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Modeling with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data modeling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keys create the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Explores data-oriented structures for the business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Identifies entity types (like classes) and their attributes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Spans conceptual → logical → physical models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Mirrors real business processes and relationships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KEY uniquely identifies each entity row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FOREIGN KEY points a child row at its parent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One-to-many: one Country has many Cities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Relationships form the entity-relationship diagram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SECURITY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Never paste user input straight into SQL.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SQL injection places malicious code in statements via web input — one of the most common hacking techniques. Always validate input and use parameterised queries.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Data Modeling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230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307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90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90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Set Up SQLite Studio &amp; Import the SG Mart Database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706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7067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566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566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Create a Database and Tables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182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1827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042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042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Model Data with Constraints and Keys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SQLite Studio &amp; Import the SG Mart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Install SQLite Studio, connect it to the SG Mart sample database and explore its tables — your data source for the whole course.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working SQLite Studio with the SG Mart database connected, showing the Outlets, Products and Categories tables.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sgmart.db mock database, LMS course materials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SQLITE STUDIO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Download &amp; install SQLite Studio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Get sgmart.db from the LMS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 &amp; connect the 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Browse the tables &amp; open a CSV in Excel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SQLite Studio &amp; Import the SG Mart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Databases panel shows the connected sgmart database with the Outlets, Products, Customers, Orders and OrderItems tables; the Data tab displays outlet rows; and the ORDER BY query returns 8 outlets led by SG Mart Tampines Hub (1680.5 sqm).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Database and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Create your own database named 'sgmart_practice' and build the Outlets, Categories, Suppliers and Products tables with CREATE TABLE, choosing an appropriate data type for every column.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new 'sgmart_practice' database containing four tables whose columns, data types and defaults model the SG Mart retail business.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SQL Editor, lab-02 dataset (CSV + seed script)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CREATE DB &amp;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2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the 'sgmart_practice'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the SQL Editor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TABLE Outlets / Categories / Suppliers / Products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Load the seed data &amp; inspect the schema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Database and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sgmart_practice database lists Outlets, Categories, Suppliers and Products; each Structure tab shows the declared columns, data types, defaults and primary keys; and the counts return 8, 8, 9 and 25 rows.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Data with Constraints and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Build a Persons–PersonOrders mini-model: enforce data rules with NOT NULL, UNIQUE, DEFAULT and CHECK, link the tables with a PRIMARY KEY / FOREIGN KEY relationship, and speed up searches with an index.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two-table data model (Persons ← PersonOrders) with working constraints, a foreign-key relationship and an index.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SQL Editor, lab-03 dataset (Persons + PersonOrders)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CONSTRAINTS &amp; KEYS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3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Persons with constraints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Test the constraints with INSERTs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PersonOrders with a FOREIGN 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ALTER TABLE &amp; CREATE INDEX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Data with Constraints and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valid insert appears in Persons with City = 'Singapore'; the three rule-breaking inserts each raise a constraint error; the join returns 7 matched orders led by 312.75; PersonOrders shows a foreign key to Persons in its DDL; and idx_lastname is listed under Indexes.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Data Modeling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— identify relevant data sources and set up the SQL workbench (A1, A2)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— create and manage databases and tables with SQL DDL (A1, A2)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— apply data modeling for business processes with constraints, keys and relationships (A1, A2)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Full step-by-step instructions for every lab are in the Learner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Data Processing and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SQL Queries · SQL Operators · Insert, Update &amp; Delete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MAPPING · A3, A5,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Data Processing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Queries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retrieves data into a result-set; DISTINCT removes duplicates; WHERE filters rows.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Operators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AND/OR/NOT, IN, BETWEEN, LIKE wildcards and IS NULL build precise filter conditions.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Shaping results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ORDER BY sorts, LIMIT caps the row count, and aliases (AS) rename columns and tables.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Changing data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INSERT INTO adds records, UPDATE modifies them and DELETE removes them — always with WHERE.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Elements of 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Queries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Retrieve data against some criteria — the SELECT family.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Statements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Control transactions, sessions, connections and program flow.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Clauses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Components of queries and statements — WHERE, GROUP BY, ORDER BY.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Expressions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Combinations of symbols and operators producing values.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Predicates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Conditions that evaluate true or false to filter rows.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Result-set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table of rows a query returns.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SELECT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SELECT retrieves data from a database into a result-set.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 * for all columns, or name the columns you need.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column1, column2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table_name;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table_name;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City;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first_name, last_name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people;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SELECT DISTINCT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SELECT DISTINCT returns only the different (distinct) values.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 it when a column holds many duplicates and you want each value once.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DISTINCT column1, column2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table_name;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DISTINCT CountryCode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City;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WHERE Clause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WHERE filters records — only rows that satisfy the condition are returned.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Works with =, &lt;, &gt;, &lt;=, &gt;=, &lt;&gt; and the SQL operators.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column1, column2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condition;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District = 'Kabol';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AND · OR · NOT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Row shown only if ALL conditions are true.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Row shown if ANY condition is true.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Row shown if the condition is NOT true.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Combine freely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Group with parentheses: WHERE a AND (b OR c).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WHERE Country='Germany' AND City='Berlin'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WHERE NOT Country='UK'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 &amp; BETWEEN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 matches any value in a list — shorthand for multiple ORs.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BETWEEN selects values inside an inclusive range of numbers, text or dates.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column IN (v1, v2, ...);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column BETWEEN v1 AND v2;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CountryCode IN ('AFG','NLD');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Products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Price BETWEEN 10 AND 20;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LIKE Operator &amp; Wildcards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LIKE searches for a pattern in a column.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% matches zero or more characters; _ matches exactly one character.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columns FROM table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column LIKE pattern;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-- names starting with 'a'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CustomerName LIKE 'a%';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-- countries containing 'island'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Name FROM Country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Name LIKE '%island%';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NULL Values &amp; EXISTS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NULL field has no value — test it with IS NULL / IS NOT NULL, never with =.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EXISTS returns true if a subquery returns one or more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column IS NULL;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EXISTS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(SELECT col FROM t WHERE cond);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CustomerName FROM 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Address IS NULL;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SupplierName FROM Suppliers 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EXISTS (SELECT 1 FROM Products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WHERE SupplierID = s.SupplierID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AND Price &lt; 20);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ORDER BY &amp; LIMIT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ORDER BY sorts the result-set — ascending by default, DESC for descending.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LIMIT caps how many records are returned.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columns FROM table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ORDER BY col1 ASC|DESC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LIMIT number;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-- top 10 cities by population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ORDER BY Population DESC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LIMIT 10;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Aliases (AS)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Aliases give a table or column a temporary, more readable name.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alias exists only for the duration of that query.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column AS alias_name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table_name AS 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CountryCode AS CC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City;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CustomerID AS ID,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     CustomerName AS Customer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Customers;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INSERT INTO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INSERT INTO adds new records to a table.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Name the columns you supply; omitted columns take their DEFAULT (or NULL).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INSERT INTO table_name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(column1, column2, ...)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VALUES (value1, value2, ...);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INSERT INTO City (Name, CountryCode)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VALUES ('Singapore', 'SGP');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UPDATE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UPDATE modifies existing records.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ALWAYS include a WHERE clause — without it every row is updated.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UPDATE table_name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SET column1 = value1,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  column2 = value2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condition;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UPDATE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SET Name = 'Kabol'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District = 'Kabol';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DELETE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DELETE removes existing records from a table.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ALWAYS include a WHERE clause — without it every row is deleted.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DELETE FROM table_name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condition;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DELETE FROM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ID = 3285;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Data Processing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230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307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90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90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Query Data with SELECT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706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7067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566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566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Filter with SQL Operators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182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1827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042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042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Insert, Update and Delete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Query Data with SELECT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Query the SG Mart product catalogue with SELECT: retrieve all columns, chosen columns, distinct values and filtered rows, then combine sorting and limits to answer real merchandising questions.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set of working queries answering questions about SG Mart's products, categories and outlets.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sgmart database, lab-04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QUERY WITH SELECT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4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SELECT * and named columns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SELECT DISTINCT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Filter with WHERE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Sort &amp; limit for top-N answers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Query Data with SELECT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Each query runs without error; the DISTINCT query returns 8 category codes; the top-10 price query is led by Pineapple Tarts 300g at $11.90; and the largest outlet is SG Mart Tampines Hub (1680.5 sqm).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Filter with SQL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Sharpen your WHERE clauses with AND/OR/NOT, IN, BETWEEN, LIKE wildcards, NULL tests and aliases to slice the SG Mart customer and staff data precisely.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query toolkit covering every SQL operator, answering pattern- and range-based questions on the SG Mart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sgmart database, lab-05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SQL 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5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AND / OR / NOT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 &amp; BETWEEN ranges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LIKE pattern matching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IS NULL &amp; aliases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Filter with SQL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IN query returns 16 Gold and Platinum members ordered by points; BETWEEN returns 11 products from $3.20 to $5.95; LIKE 'Frozen%' returns the 2 frozen lines; and IS NULL returns the 5 staff with no email, shown under the alias StaffName.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Insert, Update and Delete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Change data safely: INSERT a new product line, UPDATE prices with a WHERE clause, DELETE a discontinued record, and reload the dataset from the provided seed script.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modified Products table proving you can add, change and remove records — plus a cleanly reloaded database.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sgmart database, lab-06 seed 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INSERT, UPDATE, DELETE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6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INSERT a new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6041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with SELECT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5114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UPDATE with WHERE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4187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DELETE with WHERE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3260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Reload from the seed script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Insert, Update and Delete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SKU1026 row appears after the INSERT and is gone after the DELETE; the three new members are added; Beverages prices rise by 10% (Sparkling Water 1.5L goes from 2.35 to 2.59); and after reloading, the counts return 25 products, 60 customers and 180 orders.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Data Processing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LO2 — apply data processing and analysis using SQL queries (A3, A5)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LO2 — analyse data with operators, patterns and sorting (A3, A5)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LO2 — process data by inserting, updating and deleting records (A3, A5)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Full step-by-step instructions for every lab are in the Learner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1:30 pm – 2:30 pm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Data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Aggregate Data · Join Data · Group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MAPPING · A4, A6, K5, 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Data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Aggregate functions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COUNT, AVG and SUM collapse many rows into one summary value.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Joins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INNER, LEFT, RIGHT and FULL OUTER joins combine rows from two tables on a matching key.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Set operations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UNION stacks the result-sets of two SELECTs with matching columns.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Grouping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GROUP BY aggregates per group; HAVING filters groups the way WHERE filters rows.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Aggregate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COUNT()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Number of rows matching a criterion.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AVG()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Average value of a numeric column.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SUM()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Total of a numeric column.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MIN()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Smallest value in a column.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MAX()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Largest value in a column.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With WHERE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Aggregate only the rows that match a filter.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COUNT · AVG · SUM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Aggregate functions collapse many rows into a single summary value.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Combine with WHERE to summarise a filtered subset.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COUNT(column) FROM t;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AVG(column) FROM t;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SUM(column) FROM 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COUNT(CountryCode) FROM City;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AVG(Population) FROM Country;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SUM(Population) FROM Country;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Joins — Four Ways to Combine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INNER JOIN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Only rows with matching values in BOTH tables.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LEFT JOIN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 rows from the left table + matches from the right (NULL if none).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RIGHT JOIN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 rows from the right table + matches from the left (NULL if none).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OUTER JOIN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 rows from both tables, matched where possible.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INNER JOIN Keyword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INNER JOIN selects records that have matching values in both tables.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ON clause names the matching key columns.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columns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table1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INNER JOIN table2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ON table1.col = table2.col;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City.Name, Country.Name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INNER JOIN Country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ON City.CountryCode = Country.Code;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LEFT JOIN &amp; RIGHT JOIN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LEFT JOIN returns ALL rows of the left table and matched rows of the right — NULL where there is no match.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RIGHT JOIN mirrors this for the right table. (SQLite supports LEFT JOIN; emulate RIGHT by swapping the tables.)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columns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table1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LEFT JOIN table2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ON table1.col = table2.col;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c.CustomerName, o.OrderID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Customers c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LEFT JOIN Orders o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ON c.CustomerID = o.CustomerID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ORDER BY c.CustomerName;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FULL OUTER JOIN &amp; UNION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FULL OUTER JOIN returns all records when there is a match in either table.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UNION combines the result-sets of two SELECTs — same column count, types and order. In SQLite, a FULL JOIN is emulated with LEFT JOIN + UNION.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cols FROM t1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FULL OUTER JOIN t2 ON t1.c = t2.c;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cols FROM t1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UNION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cols FROM t2;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l.*, r.* FROM left l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LEFT JOIN right r ON l.id = r.id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UNION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l.*, r.* FROM right r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LEFT JOIN left l ON l.id = r.id;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GROUP BY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GROUP BY collects rows sharing a value into summary rows — 'customers per country'.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Used with COUNT, AVG, SUM, MIN, MAX to aggregate per group.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col, AGG(col2)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GROUP BY col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ORDER BY col;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CountryCode,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     AVG(Population)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GROUP BY CountryCode;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HAVING Clause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HAVING filters GROUPS — because WHERE cannot be used with aggregate functions.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WHERE filters rows before grouping; HAVING filters the aggregated groups after.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col, AGG(col2)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GROUP BY col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HAVING AGG(col2) condition;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CountryCode, AVG(Population)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GROUP BY CountryCode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HAVING AVG(Population) &gt; 1000000;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Data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230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307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90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90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Aggregate Data with COUNT, AVG and SUM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706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7067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566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566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Join Data from Multiple Tables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182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1827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042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042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Group Data with GROUP BY and HAVING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Aggregate Data with COUNT, AVG and SUM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Summarise SG Mart's sales with COUNT, AVG, SUM, MIN and MAX: count transactions, average basket values, total revenue, and combine aggregates with DISTINCT and WHERE to answer real management questions.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management summary of SG Mart trading — order counts, average and total revenue, and filtered aggregate answers.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sgmart database, lab-07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AGGREGATE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7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COUNT rows &amp; distinct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AVG a numeric column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SUM for totals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Aggregates with WHERE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Aggregate Data with COUNT, AVG and SUM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COUNT(*) returns 180 orders while COUNT(CustomerID) returns 163 (17 walk-ins are NULL); average line value is 13.48; total revenue is 9231.43; prices range from 2.10 to 11.90; and there are 5 distinct payment methods with 165 completed orders.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Join Data from Multiple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Combine tables: INNER JOIN orders to outlets and products, see how LEFT JOIN keeps the walk-in orders that have no member, chain three joins together, and emulate a FULL OUTER JOIN in SQLite using LEFT JOIN + UNION.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Joined result-sets linking orders, outlets, customers and products, plus a full-outer-join of two practice tables showing matched and unmatched rows.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sgmart database, lab-08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JOINS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8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INNER JOIN two 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6041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Alias columns for readability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5114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LEFT JOIN keeps unmatched rows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4187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Chain three joins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3260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UNION for a full outer join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Join Data from Multiple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inner joins return only matched rows; the LEFT JOIN lists every order with NULL names for walk-ins and the orphan count returns 17; the three-way join is led by SG Mart outlets selling Pineapple Tarts; and the full-join emulation returns ids 1–6 with NULLs on the sides that have no match.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Group Data with GROUP BY and HAVING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Aggregate per group: revenue by outlet and by category with GROUP BY, then keep only the groups that matter with HAVING — and see why HAVING exists where WHERE cannot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Grouped sales summaries of the SG Mart data — per-outlet and per-category totals, filtered to the groups that matter.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sgmart database, lab-09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GROUP BY &amp; HAVING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9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GROUP BY one column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Alias &amp; ORDER the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HAVING filters groups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WHERE + GROUP BY + HAVING together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Group Data with GROUP BY and HAVING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GROUP BY query returns one row per outlet (8 rows, led by OTL08 with 28 orders); revenue by outlet is led by SG Mart Serangoon NEX at 1496.82; the HAVING &gt; 13 query returns the 5 qualifying outlets; and 18 members have 4 or more orders.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Data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transform data with aggregate functions (A4, A6)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transform data from multiple sources with joins and unions (A4, A6)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transform data by grouping and filtering groups (A4, A6)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Full step-by-step instructions for every lab are in the Learner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Introduction to Data Warehouse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Overview of Data Warehouse · Relational Databases · Stored Procedures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MAPPING · A7, A8, A9, K3, K7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Introduction to Data Warehouse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warehouse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consolidated, historical, read-mostly database kept separate from operational systems for analysis.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OLAP vs OLTP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OLAP serves complex analytical queries; OLTP serves fast day-to-day transactions.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RDBMS &amp; E-R 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relational model plus entity-relationship design maps business entities to tables and keys.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Stored procedures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Prepared SQL saved on the server (SQL Server) for reuse — callable with parameters via EXEC.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INTRODUCTION TO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 Data Warehouse?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Separate store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Kept apart from the organisation's operational database.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Historical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Consolidated historical data with no frequent updates.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 decisions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Helps executives organise, understand and use data strategically.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Integrating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Merges diverse application systems into one analytical view.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Warehouse vs Operational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Operational DB (OLTP)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Data Warehouse (OLAP)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Built for known tasks: search, index, update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Many concurrent short transactions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Current, constantly-changing data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Normalised for write efficiency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Built for complex analytical queries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Read-mostly, batch loaded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Consolidated historical data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Structured for fast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INTRODUCTION TO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Warehouse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Subject oriented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Organised around subjects — product, customers, sales — not daily operations.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Integrated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Built by integrating data from heterogeneous sources into one schema.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Time variant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Data is identified with a time period, enabling trend analysis.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Non-volatile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Loaded data is not erased when new data is added.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INTRODUCTION TO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Warehouse 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Financial services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Portfolio and risk analysis.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Banking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Customer and product profitability.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Consumer goods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Sales and promotion analysis.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Basket analysis and inventory.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Manufacturing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Controlled process optimisation.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Closed loop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Plan → execute → assess feedback for management.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INTRODUCTION TO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OLAP Servers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ROLAP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Relational OLAP — analysis directly over relational tables.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MOLAP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Multidimensional OLAP — pre-computed data cubes.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HOLAP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Hybrid OLAP — relational detail with cube summaries.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Specialized SQL Servers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Engines tuned for analytical SQL workloads.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RDBMS — the Basis for 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an RDBMS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Why it wins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Relational Database Management System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Data lives in tables of rows and columns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Basis of SQL Server, DB2, Oracle, MySQL, Access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Tables split into fields (columns) and records (rows)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Simple yet powerful relational model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Tracks inventories, e-commerce, customer data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Fits any data where points relate to each other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Managed securely, consistently, at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DATA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E-R Model →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Identify entities — the business objects (Routes, Timetables, Stations)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6041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List attributes and pick each entity's primary 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5114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Draw relationships — link entities with foreign keys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4187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TABLE for each entity with PK &amp; FK constraints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3260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Load the data and verify with SELECT queries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Study: SMRT Public Transport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The 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The E-R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SMRT operates buses, taxis and trains across Singapore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Needs schedules, routes and disruption history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Analyses service impact and severity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Routes — route_id (PK), type, code, name, direction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Timetables — timetable_id (PK), route_id (FK), station_code (FK), frequency, first/last trip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DisruptedRoutes — disrupt_no (PK), date, type, details, timetable_id (FK)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INTRODUCTION TO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Stored Procedures (SQL Server)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stored procedure is prepared SQL saved on the server, reusable by name.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Not available in SQLite — this is SQL Server / MySQL territory.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PROCEDURE procedure_name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sql_statement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GO;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EXEC procedure_name;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PROCEDURE SelectAllCustomers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GO;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EXEC SelectAllCustomers;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INTRODUCTION TO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Stored Procedure with Parameters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Parameters let one procedure act on the values passed to it.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Call EXEC with the parameter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PROCEDURE name @param type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sql_statement_using @param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GO;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EXEC name @param = value;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PROCEDURE SelectAllCustomers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@City nvarchar(30)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City = @City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GO;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EXEC SelectAllCustomers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@City = 'London';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Introduction to Data Warehouse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2968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29687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5828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5828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Map an E-R Model to Database Tables (SMRT Case Study)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444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4447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Author Stored Procedures for SQL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 an E-R Model to Database Tables (SMRT Case Study)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Take the SMRT public-transport E-R model (Routes, Stations, Timetables, DisruptedRoutes) and map it to physical tables: create each entity with its primary key, wire the foreign-key relationships, load the mock operational data and verify the model with joined queries.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four-table transport schema in SQLite that faithfully implements the SMRT E-R model with PK/FK mappings, loaded with real-shaped route, timetable and disruption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sgmart_practice database, lab-10 dataset (Routes, Stations, Timetables, DisruptedRoutes)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SMRT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10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Review the SMRT E-R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6041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Routes (parent)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5114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Stations &amp; Timetables (children)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4187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DisruptedRoutes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3260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Load data &amp; verify with joins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 an E-R Model to Database Tables (SMRT Case Study)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four tables exist with their PK/FK constraints visible in the DDL; Routes returns 8 rows; the NSL station query returns 4 stations in line order; the three-way join returns the 6 disruptions each linked to a route and station; and the LEFT JOIN summary lists every route including those with zero disruptions.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Author Stored Procedures for SQL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Write stored procedures in SQL Server syntax against the SG Mart data — a plain procedure and a parameterised one — and understand where they run (SQL Server / MySQL, not SQLite) and why warehouses use them for repeatable batch 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Stored-procedure scripts (plain and parameterised) ready to run on SQL Server, plus the EXEC calls that invoke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 Editor, SQL Server syntax (sqliteonline.com's MS SQL engine, or any SQL Server), lab-11 dataset (seed_mysql.sql)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STORED PROCEDURES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11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Set up the tables on SQL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6041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Write CREATE PROCEDURE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5114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EXEC the procedure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4187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 a parameter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3260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EXEC with a value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Author Stored Procedures for SQL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three procedures create without error; EXEC SelectAllCustomers returns the full 60-member list; EXEC SelectCustomersByTier @Tier = 'Platinum' returns only the 7 Platinum members ordered by points; and the two-parameter procedure returns one summary row for OTL08.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Introduction to Data Warehouse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LO4 — apply data mapping from an E-R model to a data warehouse schema (A7, A8, A9)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LO4 — operate data-warehouse platform capabilities with reusable stored procedures (A7, A8, A9)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Full step-by-step instructions for every lab are in the Learner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Data Modeling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Created databases, tables, constraints, keys and relationships in SQLite Studio.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Data Processing &amp; Analysis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Queried, filtered, sorted, inserted, updated and deleted data with SQL.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Data Transformation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Aggregated, joined, unioned and grouped data across multiple tables.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Data Warehouse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Mapped an E-R model to tables and authored stored procedures.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CONTINUE YOUR JOURNEY · tertiarycourses.com.sg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Next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Building Professional Websites with WordPress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WSQ · Tertiary Infotech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Building a Successful eCommerce Store with WooCommerce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WSQ · Tertiary Infotech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Mastering HTML5 and CSS3 Fundamentals for Professional Web Design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WSQ · Tertiary Infotech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Hands-On Web App Development with Javascript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WSQ · Tertiary Infotech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Running a Successful eCommerce Store with Shopify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WSQ · Tertiary Infotech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ENQUIRIES DURING AND AFTER THE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Email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Telephone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+65 6100 0613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Website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www.tertiarycourses.com.sg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LMS / TMS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COURSE FEEDBACK &amp; CERTIFICATION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Certificate &amp; TRAQOM Survey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Log in to lms-tms.tertiaryinfotech.com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Complete the TRAQOM course feedback survey — mandatory for WSQ funding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Be assessed as Competent in the PP and OQ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Download your e-certificate from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· 90 MINUTES TOTAL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Hands-on SQL tasks · 70 minutes · open book.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Oral Questioning (OQ)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Spoken knowledge questions · 20 minutes · one-to-one.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Before you begin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Take the Assessment digital attendance (TRAQOM).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After the OQ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Submit your work on the LMS, then sign the Assessment Summary Record.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1196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Practical Performance (PP) — 70 min,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9652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Oral Questioning (OQ) — 20 min, 1-to-1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Submit on the LMS — upload your answers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08108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Three times a day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Take the AM, PM and Assessment digital attendance — mandatory for WSQ-funded courses.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QR code from SSG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 or administrator displays the attendance QR code from the SSG portal.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and submit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minimum 75% attendance rate is required to be eligible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SEE YOU IN THE NEXT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can now model, query, transform and warehouse data with SQL — happy querying!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pic>
        <p:nvPicPr>
          <p:cNvPr id="24" name="Picture 23" descr="ref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004" y="1851660"/>
            <a:ext cx="7967686" cy="396392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777240" y="5897880"/>
            <a:ext cx="10637215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